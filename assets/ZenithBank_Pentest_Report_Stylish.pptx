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5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80" d="100"/>
          <a:sy n="80" d="100"/>
        </p:scale>
        <p:origin x="1522" y="12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4334933" y="1169931"/>
            <a:ext cx="4814835" cy="4993802"/>
            <a:chOff x="4334933" y="1169931"/>
            <a:chExt cx="4814835" cy="4993802"/>
          </a:xfrm>
        </p:grpSpPr>
        <p:cxnSp>
          <p:nvCxnSpPr>
            <p:cNvPr id="17" name="Straight Connector 16"/>
            <p:cNvCxnSpPr/>
            <p:nvPr/>
          </p:nvCxnSpPr>
          <p:spPr>
            <a:xfrm flipH="1">
              <a:off x="6009259" y="1169931"/>
              <a:ext cx="3134741" cy="3134741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flipH="1">
              <a:off x="4334933" y="1348898"/>
              <a:ext cx="4814835" cy="4814835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5225595" y="1469269"/>
              <a:ext cx="3912054" cy="3912054"/>
            </a:xfrm>
            <a:prstGeom prst="line">
              <a:avLst/>
            </a:prstGeom>
            <a:ln w="1270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/>
            <p:cNvCxnSpPr/>
            <p:nvPr/>
          </p:nvCxnSpPr>
          <p:spPr>
            <a:xfrm flipH="1">
              <a:off x="5304588" y="1307856"/>
              <a:ext cx="3839412" cy="3839412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/>
            <p:cNvCxnSpPr/>
            <p:nvPr/>
          </p:nvCxnSpPr>
          <p:spPr>
            <a:xfrm flipH="1">
              <a:off x="5707078" y="1770196"/>
              <a:ext cx="3430571" cy="3430570"/>
            </a:xfrm>
            <a:prstGeom prst="line">
              <a:avLst/>
            </a:prstGeom>
            <a:ln w="317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533400"/>
            <a:ext cx="6154713" cy="3124201"/>
          </a:xfrm>
        </p:spPr>
        <p:txBody>
          <a:bodyPr anchor="b">
            <a:normAutofit/>
          </a:bodyPr>
          <a:lstStyle>
            <a:lvl1pPr algn="l">
              <a:defRPr sz="4400">
                <a:effectLst/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3843868"/>
            <a:ext cx="4954250" cy="1913466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59571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400" y="533400"/>
            <a:ext cx="6554867" cy="3767670"/>
          </a:xfrm>
        </p:spPr>
        <p:txBody>
          <a:bodyPr anchor="ctr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1501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1981199"/>
            <a:ext cx="6402468" cy="2319867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487333"/>
            <a:ext cx="6402467" cy="1532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9071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Content Placeholder 3"/>
          <p:cNvSpPr>
            <a:spLocks noGrp="1"/>
          </p:cNvSpPr>
          <p:nvPr>
            <p:ph sz="half" idx="13"/>
          </p:nvPr>
        </p:nvSpPr>
        <p:spPr>
          <a:xfrm>
            <a:off x="533400" y="533400"/>
            <a:ext cx="3949967" cy="3767667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533400"/>
            <a:ext cx="3948238" cy="37592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85119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2001" y="533400"/>
            <a:ext cx="3716866" cy="609600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399" y="1143000"/>
            <a:ext cx="3945467" cy="3158067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55016" y="566738"/>
            <a:ext cx="376405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 cap="all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62362" y="1143000"/>
            <a:ext cx="3956705" cy="3149600"/>
          </a:xfrm>
        </p:spPr>
        <p:txBody>
          <a:bodyPr anchor="t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53302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46265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221910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18667" y="533400"/>
            <a:ext cx="3200400" cy="1524000"/>
          </a:xfrm>
        </p:spPr>
        <p:txBody>
          <a:bodyPr anchor="b">
            <a:normAutofit/>
          </a:bodyPr>
          <a:lstStyle>
            <a:lvl1pPr algn="l">
              <a:defRPr sz="2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399" y="533400"/>
            <a:ext cx="4438755" cy="5486400"/>
          </a:xfrm>
        </p:spPr>
        <p:txBody>
          <a:bodyPr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418667" y="2209802"/>
            <a:ext cx="32004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46791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95800" y="1447800"/>
            <a:ext cx="3563258" cy="11430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762000" y="914400"/>
            <a:ext cx="3280974" cy="48006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96027" y="2743200"/>
            <a:ext cx="3564223" cy="2082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33400" y="6172200"/>
            <a:ext cx="5811724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36799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6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533400" y="533400"/>
            <a:ext cx="8077200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9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762002" y="3843867"/>
            <a:ext cx="7281332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5206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8077200" cy="2895600"/>
          </a:xfrm>
        </p:spPr>
        <p:txBody>
          <a:bodyPr anchor="ctr">
            <a:normAutofit/>
          </a:bodyPr>
          <a:lstStyle>
            <a:lvl1pPr algn="l">
              <a:defRPr sz="28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114800"/>
            <a:ext cx="6383552" cy="1905000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80207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3" y="533400"/>
            <a:ext cx="6859787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66800" y="3429000"/>
            <a:ext cx="6402467" cy="4826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301070"/>
            <a:ext cx="6382361" cy="171873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053576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3429000"/>
            <a:ext cx="6382361" cy="1697400"/>
          </a:xfrm>
        </p:spPr>
        <p:txBody>
          <a:bodyPr anchor="b">
            <a:normAutofit/>
          </a:bodyPr>
          <a:lstStyle>
            <a:lvl1pPr algn="l">
              <a:defRPr sz="2800" b="0" cap="all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132980"/>
            <a:ext cx="6383552" cy="886819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814190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6284" y="533400"/>
            <a:ext cx="6859786" cy="2895600"/>
          </a:xfrm>
        </p:spPr>
        <p:txBody>
          <a:bodyPr anchor="ctr">
            <a:normAutofit/>
          </a:bodyPr>
          <a:lstStyle>
            <a:lvl1pPr algn="l">
              <a:defRPr sz="2800" b="0" cap="all">
                <a:solidFill>
                  <a:schemeClr val="tx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886200"/>
            <a:ext cx="638236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953000"/>
            <a:ext cx="63823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28600" y="710624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96200" y="2768601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1898408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533400"/>
            <a:ext cx="7525658" cy="28956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2800" b="0" dirty="0"/>
            </a:lvl1pPr>
          </a:lstStyle>
          <a:p>
            <a:pPr marL="0" lvl="0"/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533400" y="3928534"/>
            <a:ext cx="6382361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0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4766735"/>
            <a:ext cx="6382360" cy="1253065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3030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</p:spPr>
        <p:txBody>
          <a:bodyPr>
            <a:normAutofit/>
          </a:bodyPr>
          <a:lstStyle>
            <a:lvl1pPr algn="l"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1"/>
            <a:ext cx="6554867" cy="376767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09642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66406" y="533400"/>
            <a:ext cx="2044194" cy="4419600"/>
          </a:xfrm>
        </p:spPr>
        <p:txBody>
          <a:bodyPr vert="eaVert">
            <a:normAutofit/>
          </a:bodyPr>
          <a:lstStyle>
            <a:lvl1pPr>
              <a:defRPr sz="2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33400" y="533400"/>
            <a:ext cx="5850012" cy="5486400"/>
          </a:xfrm>
        </p:spPr>
        <p:txBody>
          <a:bodyPr vert="eaVert" anchor="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7128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6670675" y="3894667"/>
            <a:ext cx="2470456" cy="2658533"/>
            <a:chOff x="6687077" y="3259666"/>
            <a:chExt cx="2981857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8756120" y="3259666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6687077" y="3486677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7772400" y="3581400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7923214" y="3433394"/>
              <a:ext cx="1739738" cy="173974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8398935" y="3985317"/>
              <a:ext cx="1264017" cy="1264016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33400" y="4495800"/>
            <a:ext cx="6554867" cy="1524000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533401"/>
            <a:ext cx="6554867" cy="37676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30245" y="6172203"/>
            <a:ext cx="1200463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11/4/2025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33400" y="6172200"/>
            <a:ext cx="5811724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74426" y="5578478"/>
            <a:ext cx="856907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28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8999423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55" r:id="rId1"/>
    <p:sldLayoutId id="2147483856" r:id="rId2"/>
    <p:sldLayoutId id="2147483857" r:id="rId3"/>
    <p:sldLayoutId id="2147483858" r:id="rId4"/>
    <p:sldLayoutId id="2147483859" r:id="rId5"/>
    <p:sldLayoutId id="2147483860" r:id="rId6"/>
    <p:sldLayoutId id="2147483861" r:id="rId7"/>
    <p:sldLayoutId id="2147483862" r:id="rId8"/>
    <p:sldLayoutId id="2147483863" r:id="rId9"/>
    <p:sldLayoutId id="2147483864" r:id="rId10"/>
    <p:sldLayoutId id="2147483865" r:id="rId11"/>
    <p:sldLayoutId id="2147483866" r:id="rId12"/>
    <p:sldLayoutId id="2147483867" r:id="rId13"/>
    <p:sldLayoutId id="2147483868" r:id="rId14"/>
    <p:sldLayoutId id="2147483869" r:id="rId15"/>
    <p:sldLayoutId id="2147483870" r:id="rId16"/>
    <p:sldLayoutId id="214748387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48327" y="274638"/>
            <a:ext cx="7315200" cy="1143000"/>
          </a:xfrm>
        </p:spPr>
        <p:txBody>
          <a:bodyPr>
            <a:normAutofit fontScale="90000"/>
          </a:bodyPr>
          <a:lstStyle/>
          <a:p>
            <a:pPr algn="ctr">
              <a:defRPr sz="3800" b="1">
                <a:solidFill>
                  <a:srgbClr val="FF8C00"/>
                </a:solidFill>
              </a:defRPr>
            </a:pPr>
            <a:r>
              <a:rPr b="1" cap="none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CYBERSECURITY ETHICAL HACKING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-415797" y="1647767"/>
            <a:ext cx="9553385" cy="25237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 algn="ctr">
              <a:defRPr sz="2000">
                <a:solidFill>
                  <a:srgbClr val="EBEBEB"/>
                </a:solidFill>
              </a:defRPr>
            </a:pPr>
            <a:r>
              <a:rPr b="1" spc="50" dirty="0">
                <a:ln w="9525" cmpd="sng">
                  <a:solidFill>
                    <a:schemeClr val="accent1"/>
                  </a:solidFill>
                  <a:prstDash val="solid"/>
                </a:ln>
                <a:solidFill>
                  <a:srgbClr val="70AD47">
                    <a:tint val="1000"/>
                  </a:srgbClr>
                </a:solidFill>
                <a:effectLst>
                  <a:glow rad="38100">
                    <a:schemeClr val="accent1">
                      <a:alpha val="40000"/>
                    </a:schemeClr>
                  </a:glow>
                </a:effectLst>
              </a:rPr>
              <a:t>Penetration Testing Report on ZenithBank.com</a:t>
            </a:r>
            <a:r>
              <a:rPr dirty="0"/>
              <a:t/>
            </a:r>
            <a:br>
              <a:rPr dirty="0"/>
            </a:br>
            <a:endParaRPr lang="en-US" dirty="0" smtClean="0"/>
          </a:p>
          <a:p>
            <a:pPr algn="ctr">
              <a:defRPr sz="2000">
                <a:solidFill>
                  <a:srgbClr val="EBEBEB"/>
                </a:solidFill>
              </a:defRPr>
            </a:pPr>
            <a:r>
              <a:rPr b="1" dirty="0" smtClean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Prepared </a:t>
            </a:r>
            <a:r>
              <a:rPr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  <a:t>by: ISIORHO-MACAULAY DANIEL</a:t>
            </a:r>
            <a:br>
              <a:rPr b="1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</a:rPr>
            </a:br>
            <a:endParaRPr lang="en-US" b="1" dirty="0" smtClean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</a:endParaRPr>
          </a:p>
          <a:p>
            <a:pPr algn="ctr">
              <a:defRPr sz="2000">
                <a:solidFill>
                  <a:srgbClr val="EBEBEB"/>
                </a:solidFill>
              </a:defRPr>
            </a:pPr>
            <a:r>
              <a:rPr lang="en-US"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     </a:t>
            </a:r>
            <a:r>
              <a:rPr b="1" dirty="0" err="1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Email</a:t>
            </a:r>
            <a:r>
              <a:rPr lang="en-US" b="1" dirty="0" err="1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:</a:t>
            </a:r>
            <a:r>
              <a:rPr b="1" dirty="0" err="1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danchrine@gmail.com|Twitter</a:t>
            </a:r>
            <a:r>
              <a:rPr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: @</a:t>
            </a:r>
            <a:r>
              <a:rPr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danchrine| </a:t>
            </a:r>
            <a:r>
              <a:rPr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LinkedIn: isiorhodaniel</a:t>
            </a:r>
            <a:br>
              <a:rPr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</a:br>
            <a:endParaRPr lang="en-US" b="1" dirty="0" smtClean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  <a:p>
            <a:pPr algn="ctr">
              <a:defRPr sz="2000">
                <a:solidFill>
                  <a:srgbClr val="EBEBEB"/>
                </a:solidFill>
              </a:defRPr>
            </a:pPr>
            <a:r>
              <a:rPr b="1" dirty="0" smtClean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Date</a:t>
            </a:r>
            <a:r>
              <a:rPr b="1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: OCTOBER 2025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610862"/>
            <a:ext cx="9144000" cy="324713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00C878"/>
                </a:solidFill>
              </a:defRPr>
            </a:pPr>
            <a:r>
              <a:t>Table of Contents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097280" cy="1097280"/>
          </a:xfrm>
          <a:prstGeom prst="roundRect">
            <a:avLst/>
          </a:prstGeom>
          <a:solidFill>
            <a:srgbClr val="00C87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4620176" cy="313932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000">
                <a:solidFill>
                  <a:srgbClr val="EBEBEB"/>
                </a:solidFill>
              </a:defRPr>
            </a:pPr>
            <a:r>
              <a:rPr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Executive Summary</a:t>
            </a:r>
            <a:br>
              <a:rPr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</a:br>
            <a:r>
              <a:rPr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Methodology</a:t>
            </a:r>
            <a:br>
              <a:rPr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</a:br>
            <a:r>
              <a:rPr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Scope of Work</a:t>
            </a:r>
            <a:br>
              <a:rPr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</a:br>
            <a:r>
              <a:rPr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Tools Used</a:t>
            </a:r>
            <a:br>
              <a:rPr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</a:br>
            <a:r>
              <a:rPr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Risks &amp; Impacts</a:t>
            </a:r>
            <a:br>
              <a:rPr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</a:br>
            <a:r>
              <a:rPr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Recommendations</a:t>
            </a:r>
            <a:br>
              <a:rPr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</a:br>
            <a:r>
              <a:rPr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Detailed Findings</a:t>
            </a:r>
            <a:br>
              <a:rPr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</a:br>
            <a:r>
              <a:rPr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Conclusion</a:t>
            </a:r>
            <a:br>
              <a:rPr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</a:br>
            <a:r>
              <a:rPr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Appendix (Screenshots &amp; Evidence</a:t>
            </a:r>
            <a:r>
              <a:rPr dirty="0"/>
              <a:t>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00C878"/>
                </a:solidFill>
              </a:defRPr>
            </a:pPr>
            <a:r>
              <a:rPr dirty="0"/>
              <a:t>Executive Summary</a:t>
            </a:r>
          </a:p>
        </p:txBody>
      </p:sp>
      <p:sp>
        <p:nvSpPr>
          <p:cNvPr id="3" name="Oval 2"/>
          <p:cNvSpPr/>
          <p:nvPr/>
        </p:nvSpPr>
        <p:spPr>
          <a:xfrm>
            <a:off x="274320" y="274320"/>
            <a:ext cx="1097280" cy="1097280"/>
          </a:xfrm>
          <a:prstGeom prst="ellipse">
            <a:avLst/>
          </a:prstGeom>
          <a:solidFill>
            <a:srgbClr val="00C87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645920"/>
            <a:ext cx="9063700" cy="28315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000">
                <a:solidFill>
                  <a:srgbClr val="EBEBEB"/>
                </a:solidFill>
              </a:defRPr>
            </a:pPr>
            <a:r>
              <a:rPr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Ethical hacking performed on ZenithBank.com in a controlled lab using </a:t>
            </a:r>
            <a:endParaRPr lang="en-US" b="1" dirty="0" smtClean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  <a:p>
            <a:pPr>
              <a:defRPr sz="2000">
                <a:solidFill>
                  <a:srgbClr val="EBEBEB"/>
                </a:solidFill>
              </a:defRPr>
            </a:pPr>
            <a:r>
              <a:rPr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Kali </a:t>
            </a:r>
            <a:r>
              <a:rPr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Linux</a:t>
            </a:r>
            <a:r>
              <a:rPr b="1" dirty="0" smtClean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.</a:t>
            </a:r>
            <a:endParaRPr lang="en-US" b="1" dirty="0" smtClean="0">
              <a:ln w="6600">
                <a:solidFill>
                  <a:schemeClr val="accent2"/>
                </a:solidFill>
                <a:prstDash val="solid"/>
              </a:ln>
              <a:solidFill>
                <a:srgbClr val="FFFFFF"/>
              </a:solidFill>
              <a:effectLst>
                <a:outerShdw dist="38100" dir="2700000" algn="tl" rotWithShape="0">
                  <a:schemeClr val="accent2"/>
                </a:outerShdw>
              </a:effectLst>
            </a:endParaRPr>
          </a:p>
          <a:p>
            <a:pPr>
              <a:defRPr sz="2000">
                <a:solidFill>
                  <a:srgbClr val="EBEBEB"/>
                </a:solidFill>
              </a:defRPr>
            </a:pPr>
            <a:r>
              <a:rPr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/>
            </a:r>
            <a:br>
              <a:rPr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</a:br>
            <a:r>
              <a:rPr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- Strict WAF filtering detected.</a:t>
            </a:r>
            <a:br>
              <a:rPr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</a:br>
            <a:r>
              <a:rPr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- Limited DNS data exposure.</a:t>
            </a:r>
            <a:br>
              <a:rPr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</a:br>
            <a:r>
              <a:rPr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- No exploitable SQL injection found.</a:t>
            </a:r>
            <a:br>
              <a:rPr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</a:br>
            <a:r>
              <a:rPr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- Strong login input filtering.</a:t>
            </a:r>
            <a:br>
              <a:rPr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</a:br>
            <a:r>
              <a:rPr b="1" dirty="0">
                <a:ln w="6600">
                  <a:solidFill>
                    <a:schemeClr val="accent2"/>
                  </a:solidFill>
                  <a:prstDash val="solid"/>
                </a:ln>
                <a:solidFill>
                  <a:srgbClr val="FFFFFF"/>
                </a:solidFill>
                <a:effectLst>
                  <a:outerShdw dist="38100" dir="2700000" algn="tl" rotWithShape="0">
                    <a:schemeClr val="accent2"/>
                  </a:outerShdw>
                </a:effectLst>
              </a:rPr>
              <a:t>- High perimeter security overall.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B400C8"/>
                </a:solidFill>
              </a:defRPr>
            </a:pPr>
            <a:r>
              <a:t>Methodology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097280" cy="1097280"/>
          </a:xfrm>
          <a:prstGeom prst="roundRect">
            <a:avLst/>
          </a:prstGeom>
          <a:solidFill>
            <a:srgbClr val="B400C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 dirty="0"/>
          </a:p>
          <a:p>
            <a:pPr>
              <a:defRPr sz="2000">
                <a:solidFill>
                  <a:srgbClr val="EBEBEB"/>
                </a:solidFill>
              </a:defRPr>
            </a:pPr>
            <a:r>
              <a:rPr dirty="0"/>
              <a:t>Frameworks: OWASP, PTES, NIST SP 800-115.</a:t>
            </a:r>
            <a:br>
              <a:rPr dirty="0"/>
            </a:br>
            <a:r>
              <a:rPr dirty="0"/>
              <a:t>Phases:</a:t>
            </a:r>
            <a:br>
              <a:rPr dirty="0"/>
            </a:br>
            <a:r>
              <a:rPr dirty="0"/>
              <a:t>- Information Gathering</a:t>
            </a:r>
            <a:br>
              <a:rPr dirty="0"/>
            </a:br>
            <a:r>
              <a:rPr dirty="0"/>
              <a:t>- Scanning &amp; Enumeration</a:t>
            </a:r>
            <a:br>
              <a:rPr dirty="0"/>
            </a:br>
            <a:r>
              <a:rPr dirty="0"/>
              <a:t>- Vulnerability Analysis</a:t>
            </a:r>
            <a:br>
              <a:rPr dirty="0"/>
            </a:br>
            <a:r>
              <a:rPr dirty="0"/>
              <a:t>- Exploitation (Simulated)</a:t>
            </a:r>
            <a:br>
              <a:rPr dirty="0"/>
            </a:br>
            <a:r>
              <a:rPr dirty="0"/>
              <a:t>- Post-Exploitation Validation</a:t>
            </a:r>
            <a:br>
              <a:rPr dirty="0"/>
            </a:br>
            <a:r>
              <a:rPr dirty="0"/>
              <a:t>- Reporting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B400C8"/>
                </a:solidFill>
              </a:defRPr>
            </a:pPr>
            <a:r>
              <a:t>Scope of Work</a:t>
            </a:r>
          </a:p>
        </p:txBody>
      </p:sp>
      <p:sp>
        <p:nvSpPr>
          <p:cNvPr id="3" name="Isosceles Triangle 2"/>
          <p:cNvSpPr/>
          <p:nvPr/>
        </p:nvSpPr>
        <p:spPr>
          <a:xfrm>
            <a:off x="274320" y="274320"/>
            <a:ext cx="1097280" cy="1097280"/>
          </a:xfrm>
          <a:prstGeom prst="triangle">
            <a:avLst/>
          </a:prstGeom>
          <a:solidFill>
            <a:srgbClr val="B400C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>
                <a:solidFill>
                  <a:srgbClr val="EBEBEB"/>
                </a:solidFill>
              </a:defRPr>
            </a:pPr>
            <a:r>
              <a:t>Target: zenithbank.com</a:t>
            </a:r>
            <a:br/>
            <a:r>
              <a:t>IP: 45.60.46.43</a:t>
            </a:r>
            <a:br/>
            <a:r>
              <a:t>Type: Web &amp; Network Infrastructure</a:t>
            </a:r>
            <a:br/>
            <a:r>
              <a:t>Test Type: Black-box</a:t>
            </a:r>
            <a:br/>
            <a:r>
              <a:t>Objective: Identify misconfigurations, vulnerabilities, and attack vectors.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B400C8"/>
                </a:solidFill>
              </a:defRPr>
            </a:pPr>
            <a:r>
              <a:t>Tools Used (OSINT &amp; Scanning)</a:t>
            </a:r>
          </a:p>
        </p:txBody>
      </p:sp>
      <p:sp>
        <p:nvSpPr>
          <p:cNvPr id="3" name="Oval 2"/>
          <p:cNvSpPr/>
          <p:nvPr/>
        </p:nvSpPr>
        <p:spPr>
          <a:xfrm>
            <a:off x="274320" y="274320"/>
            <a:ext cx="1097280" cy="1097280"/>
          </a:xfrm>
          <a:prstGeom prst="ellipse">
            <a:avLst/>
          </a:prstGeom>
          <a:solidFill>
            <a:srgbClr val="B400C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>
                <a:solidFill>
                  <a:srgbClr val="EBEBEB"/>
                </a:solidFill>
              </a:defRPr>
            </a:pPr>
            <a:r>
              <a:t>WHOIS, Nslookup, Dig, Sublist3r – Domain &amp; DNS discovery</a:t>
            </a:r>
            <a:br/>
            <a:r>
              <a:t>Nmap, Masscan – Port scanning</a:t>
            </a:r>
            <a:br/>
            <a:r>
              <a:t>Wafw00f – WAF detection</a:t>
            </a:r>
            <a:br/>
            <a:r>
              <a:t>WhatWeb, Wappalyzer – Technology fingerprinting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0078D7"/>
                </a:solidFill>
              </a:defRPr>
            </a:pPr>
            <a:r>
              <a:t>Tools Used (Web &amp; Network)</a:t>
            </a:r>
          </a:p>
        </p:txBody>
      </p:sp>
      <p:sp>
        <p:nvSpPr>
          <p:cNvPr id="3" name="Isosceles Triangle 2"/>
          <p:cNvSpPr/>
          <p:nvPr/>
        </p:nvSpPr>
        <p:spPr>
          <a:xfrm>
            <a:off x="274320" y="274320"/>
            <a:ext cx="1097280" cy="1097280"/>
          </a:xfrm>
          <a:prstGeom prst="triangle">
            <a:avLst/>
          </a:prstGeom>
          <a:solidFill>
            <a:srgbClr val="0078D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>
                <a:solidFill>
                  <a:srgbClr val="EBEBEB"/>
                </a:solidFill>
              </a:defRPr>
            </a:pPr>
            <a:r>
              <a:t>Nikto, WPScan – Web vulnerability scanning</a:t>
            </a:r>
            <a:br/>
            <a:r>
              <a:t>Dirb – Directory brute-forcing</a:t>
            </a:r>
            <a:br/>
            <a:r>
              <a:t>Enum4linux – SMB enumeration</a:t>
            </a:r>
            <a:br/>
            <a:r>
              <a:t>Burp Suite – Manual web proxy testing</a:t>
            </a:r>
            <a:br/>
            <a:r>
              <a:t>SQLMap – SQL injection testing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FF8C00"/>
                </a:solidFill>
              </a:defRPr>
            </a:pPr>
            <a:r>
              <a:t>Risk &amp; Impact Overview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097280" cy="1097280"/>
          </a:xfrm>
          <a:prstGeom prst="roundRect">
            <a:avLst/>
          </a:prstGeom>
          <a:solidFill>
            <a:srgbClr val="FF8C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>
                <a:solidFill>
                  <a:srgbClr val="EBEBEB"/>
                </a:solidFill>
              </a:defRPr>
            </a:pPr>
            <a:r>
              <a:t>DNS Info Disclosure – Medium – Partial</a:t>
            </a:r>
            <a:br/>
            <a:r>
              <a:t>Web Firewall – Low – Protected</a:t>
            </a:r>
            <a:br/>
            <a:r>
              <a:t>Brute Force – High – Prevented</a:t>
            </a:r>
            <a:br/>
            <a:r>
              <a:t>Outdated Software – Medium – None</a:t>
            </a:r>
            <a:br/>
            <a:r>
              <a:t>Open Ports – Low – Controlled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00C878"/>
                </a:solidFill>
              </a:defRPr>
            </a:pPr>
            <a:r>
              <a:t>Recommendations</a:t>
            </a:r>
          </a:p>
        </p:txBody>
      </p:sp>
      <p:sp>
        <p:nvSpPr>
          <p:cNvPr id="3" name="Heart 2"/>
          <p:cNvSpPr/>
          <p:nvPr/>
        </p:nvSpPr>
        <p:spPr>
          <a:xfrm>
            <a:off x="274320" y="274320"/>
            <a:ext cx="1097280" cy="1097280"/>
          </a:xfrm>
          <a:prstGeom prst="heart">
            <a:avLst/>
          </a:prstGeom>
          <a:solidFill>
            <a:srgbClr val="00C87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>
                <a:solidFill>
                  <a:srgbClr val="EBEBEB"/>
                </a:solidFill>
              </a:defRPr>
            </a:pPr>
            <a:r>
              <a:t>Maintain patching of all web servers.</a:t>
            </a:r>
            <a:br/>
            <a:r>
              <a:t>Keep WAF (Imperva) updated.</a:t>
            </a:r>
            <a:br/>
            <a:r>
              <a:t>Add CAPTCHA &amp; rate limits.</a:t>
            </a:r>
            <a:br/>
            <a:r>
              <a:t>Conduct quarterly penetration tests.</a:t>
            </a:r>
            <a:br/>
            <a:r>
              <a:t>Enable DNSSEC &amp; monitoring.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B400C8"/>
                </a:solidFill>
              </a:defRPr>
            </a:pPr>
            <a:r>
              <a:t>WHOIS Information Summary</a:t>
            </a:r>
          </a:p>
        </p:txBody>
      </p:sp>
      <p:sp>
        <p:nvSpPr>
          <p:cNvPr id="3" name="Isosceles Triangle 2"/>
          <p:cNvSpPr/>
          <p:nvPr/>
        </p:nvSpPr>
        <p:spPr>
          <a:xfrm>
            <a:off x="274320" y="274320"/>
            <a:ext cx="1097280" cy="1097280"/>
          </a:xfrm>
          <a:prstGeom prst="triangle">
            <a:avLst/>
          </a:prstGeom>
          <a:solidFill>
            <a:srgbClr val="B400C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>
                <a:solidFill>
                  <a:srgbClr val="EBEBEB"/>
                </a:solidFill>
              </a:defRPr>
            </a:pPr>
            <a:r>
              <a:t>Domain created: 1997-10-22</a:t>
            </a:r>
            <a:br/>
            <a:r>
              <a:t>Registrar: Network Solutions LLC</a:t>
            </a:r>
            <a:br/>
            <a:r>
              <a:t>DNSSEC: Not enabled</a:t>
            </a:r>
            <a:br/>
            <a:r>
              <a:t>Name servers: SV001DNS01–06.ZENITHBANK.COM</a:t>
            </a:r>
            <a:br/>
            <a:r>
              <a:t>Risks:</a:t>
            </a:r>
            <a:br/>
            <a:r>
              <a:t>- No DNSSEC</a:t>
            </a:r>
            <a:br/>
            <a:r>
              <a:t>- Exposed admin emails</a:t>
            </a:r>
            <a:br/>
            <a:r>
              <a:t>- Weak contact data</a:t>
            </a:r>
            <a:br/>
            <a:r>
              <a:t>Recommendations:</a:t>
            </a:r>
            <a:br/>
            <a:r>
              <a:t>- Enable DNSSEC &amp; 2FA</a:t>
            </a:r>
            <a:br/>
            <a:r>
              <a:t>- Update contacts</a:t>
            </a:r>
            <a:br/>
            <a:r>
              <a:t>- Add WHOIS monitoring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00C878"/>
                </a:solidFill>
              </a:defRPr>
            </a:pPr>
            <a:r>
              <a:t>DNS &amp; nslookup Findings</a:t>
            </a:r>
          </a:p>
        </p:txBody>
      </p:sp>
      <p:sp>
        <p:nvSpPr>
          <p:cNvPr id="3" name="Isosceles Triangle 2"/>
          <p:cNvSpPr/>
          <p:nvPr/>
        </p:nvSpPr>
        <p:spPr>
          <a:xfrm>
            <a:off x="274320" y="274320"/>
            <a:ext cx="1097280" cy="1097280"/>
          </a:xfrm>
          <a:prstGeom prst="triangle">
            <a:avLst/>
          </a:prstGeom>
          <a:solidFill>
            <a:srgbClr val="00C87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>
                <a:solidFill>
                  <a:srgbClr val="EBEBEB"/>
                </a:solidFill>
              </a:defRPr>
            </a:pPr>
            <a:r>
              <a:t>Resolved IPs: 45.60.50.43, 45.60.46.43</a:t>
            </a:r>
            <a:br/>
            <a:r>
              <a:t>Multi-homing detected.</a:t>
            </a:r>
            <a:br/>
            <a:r>
              <a:t>Risks:</a:t>
            </a:r>
            <a:br/>
            <a:r>
              <a:t>- Inconsistent configurations.</a:t>
            </a:r>
            <a:br/>
            <a:r>
              <a:t>Recommendation: Scan both IPs and ensure parity.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FF8C00"/>
                </a:solidFill>
              </a:defRPr>
            </a:pPr>
            <a:r>
              <a:t>dig Command Findings</a:t>
            </a:r>
          </a:p>
        </p:txBody>
      </p:sp>
      <p:sp>
        <p:nvSpPr>
          <p:cNvPr id="3" name="Heart 2"/>
          <p:cNvSpPr/>
          <p:nvPr/>
        </p:nvSpPr>
        <p:spPr>
          <a:xfrm>
            <a:off x="274320" y="274320"/>
            <a:ext cx="1097280" cy="1097280"/>
          </a:xfrm>
          <a:prstGeom prst="heart">
            <a:avLst/>
          </a:prstGeom>
          <a:solidFill>
            <a:srgbClr val="FF8C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>
                <a:solidFill>
                  <a:srgbClr val="EBEBEB"/>
                </a:solidFill>
              </a:defRPr>
            </a:pPr>
            <a:r>
              <a:t>NXDOMAIN detected on 192.168.65.2 resolver.</a:t>
            </a:r>
            <a:br/>
            <a:r>
              <a:t>Indicates misconfigured local DNS.</a:t>
            </a:r>
            <a:br/>
            <a:r>
              <a:t>Recommendation: Fix DNS, validate authoritative responses.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0078D7"/>
                </a:solidFill>
              </a:defRPr>
            </a:pPr>
            <a:r>
              <a:t>Subdomain Enumeration</a:t>
            </a:r>
          </a:p>
        </p:txBody>
      </p:sp>
      <p:sp>
        <p:nvSpPr>
          <p:cNvPr id="3" name="Oval 2"/>
          <p:cNvSpPr/>
          <p:nvPr/>
        </p:nvSpPr>
        <p:spPr>
          <a:xfrm>
            <a:off x="274320" y="274320"/>
            <a:ext cx="1097280" cy="1097280"/>
          </a:xfrm>
          <a:prstGeom prst="ellipse">
            <a:avLst/>
          </a:prstGeom>
          <a:solidFill>
            <a:srgbClr val="0078D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>
                <a:solidFill>
                  <a:srgbClr val="EBEBEB"/>
                </a:solidFill>
              </a:defRPr>
            </a:pPr>
            <a:r>
              <a:t>Tool: Sublist3r</a:t>
            </a:r>
            <a:br/>
            <a:r>
              <a:t>10 subdomains found (ibank, icorporate, realtime, etc.)</a:t>
            </a:r>
            <a:br/>
            <a:r>
              <a:t>Risks:</a:t>
            </a:r>
            <a:br/>
            <a:r>
              <a:t>- Expanded attack surface.</a:t>
            </a:r>
            <a:br/>
            <a:r>
              <a:t>Recommendations:</a:t>
            </a:r>
            <a:br/>
            <a:r>
              <a:t>- Scan each subdomain.</a:t>
            </a:r>
            <a:br/>
            <a:r>
              <a:t>- Remove unused ones.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FF8C00"/>
                </a:solidFill>
              </a:defRPr>
            </a:pPr>
            <a:r>
              <a:t>WAF Detection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097280" cy="1097280"/>
          </a:xfrm>
          <a:prstGeom prst="roundRect">
            <a:avLst/>
          </a:prstGeom>
          <a:solidFill>
            <a:srgbClr val="FF8C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>
                <a:solidFill>
                  <a:srgbClr val="EBEBEB"/>
                </a:solidFill>
              </a:defRPr>
            </a:pPr>
            <a:r>
              <a:t>Tool: wafw00f</a:t>
            </a:r>
            <a:br/>
            <a:r>
              <a:t>Detected: Incapsula (Imperva)</a:t>
            </a:r>
            <a:br/>
            <a:r>
              <a:t>Risks: Overreliance or misconfiguration.</a:t>
            </a:r>
            <a:br/>
            <a:r>
              <a:t>Recommendations:</a:t>
            </a:r>
            <a:br/>
            <a:r>
              <a:t>- Verify rules cover OWASP Top 10.</a:t>
            </a:r>
            <a:br/>
            <a:r>
              <a:t>- Monitor bypass attempts.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FF8C00"/>
                </a:solidFill>
              </a:defRPr>
            </a:pPr>
            <a:r>
              <a:t>WhatWeb Results</a:t>
            </a:r>
          </a:p>
        </p:txBody>
      </p:sp>
      <p:sp>
        <p:nvSpPr>
          <p:cNvPr id="3" name="Heart 2"/>
          <p:cNvSpPr/>
          <p:nvPr/>
        </p:nvSpPr>
        <p:spPr>
          <a:xfrm>
            <a:off x="274320" y="274320"/>
            <a:ext cx="1097280" cy="1097280"/>
          </a:xfrm>
          <a:prstGeom prst="heart">
            <a:avLst/>
          </a:prstGeom>
          <a:solidFill>
            <a:srgbClr val="FF8C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>
                <a:solidFill>
                  <a:srgbClr val="EBEBEB"/>
                </a:solidFill>
              </a:defRPr>
            </a:pPr>
            <a:r>
              <a:t>HTTP 403 Forbidden (WAF)</a:t>
            </a:r>
            <a:br/>
            <a:r>
              <a:t>Cookies missing Secure/HttpOnly flags.</a:t>
            </a:r>
            <a:br/>
            <a:r>
              <a:t>Recommendations:</a:t>
            </a:r>
            <a:br/>
            <a:r>
              <a:t>- Enable Secure/HttpOnly</a:t>
            </a:r>
            <a:br/>
            <a:r>
              <a:t>- Apply HSTS</a:t>
            </a:r>
            <a:br/>
            <a:r>
              <a:t>- Whitelist tester IPs.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00C878"/>
                </a:solidFill>
              </a:defRPr>
            </a:pPr>
            <a:r>
              <a:t>Nmap Findings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097280" cy="1097280"/>
          </a:xfrm>
          <a:prstGeom prst="roundRect">
            <a:avLst/>
          </a:prstGeom>
          <a:solidFill>
            <a:srgbClr val="00C87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>
                <a:solidFill>
                  <a:srgbClr val="EBEBEB"/>
                </a:solidFill>
              </a:defRPr>
            </a:pPr>
            <a:r>
              <a:t>Open Ports: 80, 443, 3389, 3306, 5900</a:t>
            </a:r>
            <a:br/>
            <a:r>
              <a:t>Vulnerability: SMBv2 (CVE-2009-3103)</a:t>
            </a:r>
            <a:br/>
            <a:r>
              <a:t>Risks: Exposed RDP, MySQL, SMB.</a:t>
            </a:r>
            <a:br/>
            <a:r>
              <a:t>Recommendations:</a:t>
            </a:r>
            <a:br/>
            <a:r>
              <a:t>- Patch immediately</a:t>
            </a:r>
            <a:br/>
            <a:r>
              <a:t>- Restrict remote access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0078D7"/>
                </a:solidFill>
              </a:defRPr>
            </a:pPr>
            <a:r>
              <a:t>DNS Enumeration (dnsenum)</a:t>
            </a:r>
          </a:p>
        </p:txBody>
      </p:sp>
      <p:sp>
        <p:nvSpPr>
          <p:cNvPr id="3" name="Oval 2"/>
          <p:cNvSpPr/>
          <p:nvPr/>
        </p:nvSpPr>
        <p:spPr>
          <a:xfrm>
            <a:off x="274320" y="274320"/>
            <a:ext cx="1097280" cy="1097280"/>
          </a:xfrm>
          <a:prstGeom prst="ellipse">
            <a:avLst/>
          </a:prstGeom>
          <a:solidFill>
            <a:srgbClr val="0078D7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>
                <a:solidFill>
                  <a:srgbClr val="EBEBEB"/>
                </a:solidFill>
              </a:defRPr>
            </a:pPr>
            <a:r>
              <a:t>Found multiple name servers and subdomains.</a:t>
            </a:r>
            <a:br/>
            <a:r>
              <a:t>AXFR refused (secure)</a:t>
            </a:r>
            <a:br/>
            <a:r>
              <a:t>Risks: Legacy systems exposed.</a:t>
            </a:r>
            <a:br/>
            <a:r>
              <a:t>Recommendations:</a:t>
            </a:r>
            <a:br/>
            <a:r>
              <a:t>- Audit DNS &amp; remove stale records.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FF8C00"/>
                </a:solidFill>
              </a:defRPr>
            </a:pPr>
            <a:r>
              <a:t>Nikto Scan Summary</a:t>
            </a:r>
          </a:p>
        </p:txBody>
      </p:sp>
      <p:sp>
        <p:nvSpPr>
          <p:cNvPr id="3" name="Oval 2"/>
          <p:cNvSpPr/>
          <p:nvPr/>
        </p:nvSpPr>
        <p:spPr>
          <a:xfrm>
            <a:off x="274320" y="274320"/>
            <a:ext cx="1097280" cy="1097280"/>
          </a:xfrm>
          <a:prstGeom prst="ellipse">
            <a:avLst/>
          </a:prstGeom>
          <a:solidFill>
            <a:srgbClr val="FF8C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>
                <a:solidFill>
                  <a:srgbClr val="EBEBEB"/>
                </a:solidFill>
              </a:defRPr>
            </a:pPr>
            <a:r>
              <a:t>SSL mismatch (zenithbank.com vs www)</a:t>
            </a:r>
            <a:br/>
            <a:r>
              <a:t>Missing headers (X-Frame-Options, HSTS)</a:t>
            </a:r>
            <a:br/>
            <a:r>
              <a:t>Cookies missing flags.</a:t>
            </a:r>
            <a:br/>
            <a:r>
              <a:t>Recommendations:</a:t>
            </a:r>
            <a:br/>
            <a:r>
              <a:t>- Fix SSL certs</a:t>
            </a:r>
            <a:br/>
            <a:r>
              <a:t>- Add Secure headers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00C878"/>
                </a:solidFill>
              </a:defRPr>
            </a:pPr>
            <a:r>
              <a:t>SSLScan Findings</a:t>
            </a:r>
          </a:p>
        </p:txBody>
      </p:sp>
      <p:sp>
        <p:nvSpPr>
          <p:cNvPr id="3" name="Isosceles Triangle 2"/>
          <p:cNvSpPr/>
          <p:nvPr/>
        </p:nvSpPr>
        <p:spPr>
          <a:xfrm>
            <a:off x="274320" y="274320"/>
            <a:ext cx="1097280" cy="1097280"/>
          </a:xfrm>
          <a:prstGeom prst="triangle">
            <a:avLst/>
          </a:prstGeom>
          <a:solidFill>
            <a:srgbClr val="00C878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>
                <a:solidFill>
                  <a:srgbClr val="EBEBEB"/>
                </a:solidFill>
              </a:defRPr>
            </a:pPr>
            <a:r>
              <a:t>TLSv1.2/1.3 only – Secure</a:t>
            </a:r>
            <a:br/>
            <a:r>
              <a:t>No Heartbleed/CRIME</a:t>
            </a:r>
            <a:br/>
            <a:r>
              <a:t>Valid Entrust certificate</a:t>
            </a:r>
            <a:br/>
            <a:r>
              <a:t>Recommendations:</a:t>
            </a:r>
            <a:br/>
            <a:r>
              <a:t>- Maintain TLSv1.3</a:t>
            </a:r>
            <a:br/>
            <a:r>
              <a:t>- Re-scan regularly.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FF8C00"/>
                </a:solidFill>
              </a:defRPr>
            </a:pPr>
            <a:r>
              <a:t>DIRB Scan 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274320"/>
            <a:ext cx="1097280" cy="1097280"/>
          </a:xfrm>
          <a:prstGeom prst="roundRect">
            <a:avLst/>
          </a:prstGeom>
          <a:solidFill>
            <a:srgbClr val="FF8C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>
                <a:solidFill>
                  <a:srgbClr val="EBEBEB"/>
                </a:solidFill>
              </a:defRPr>
            </a:pPr>
            <a:r>
              <a:t>403 for most directories.</a:t>
            </a:r>
            <a:br/>
            <a:r>
              <a:t>Only one redirect (.swf)</a:t>
            </a:r>
            <a:br/>
            <a:r>
              <a:t>Recommendation:</a:t>
            </a:r>
            <a:br/>
            <a:r>
              <a:t>- Review permissions</a:t>
            </a:r>
            <a:br/>
            <a:r>
              <a:t>- Periodic hidden dir scans.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1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800" b="1">
                <a:solidFill>
                  <a:srgbClr val="FF8C00"/>
                </a:solidFill>
              </a:defRPr>
            </a:pPr>
            <a:r>
              <a:t>Conclusion</a:t>
            </a:r>
          </a:p>
        </p:txBody>
      </p:sp>
      <p:sp>
        <p:nvSpPr>
          <p:cNvPr id="3" name="Heart 2"/>
          <p:cNvSpPr/>
          <p:nvPr/>
        </p:nvSpPr>
        <p:spPr>
          <a:xfrm>
            <a:off x="274320" y="274320"/>
            <a:ext cx="1097280" cy="1097280"/>
          </a:xfrm>
          <a:prstGeom prst="heart">
            <a:avLst/>
          </a:prstGeom>
          <a:solidFill>
            <a:srgbClr val="FF8C00"/>
          </a:solidFill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77724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2000">
                <a:solidFill>
                  <a:srgbClr val="EBEBEB"/>
                </a:solidFill>
              </a:defRPr>
            </a:pPr>
            <a:r>
              <a:t>ZenithBank.com shows strong perimeter security.</a:t>
            </a:r>
            <a:br/>
            <a:r>
              <a:t>WAF and TLS configurations are robust.</a:t>
            </a:r>
            <a:br/>
            <a:r>
              <a:t>No critical vulnerabilities found.</a:t>
            </a:r>
            <a:br/>
            <a:r>
              <a:t>Continuous monitoring recommended.</a:t>
            </a: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D06F1E"/>
      </a:dk2>
      <a:lt2>
        <a:srgbClr val="F0BE21"/>
      </a:lt2>
      <a:accent1>
        <a:srgbClr val="760603"/>
      </a:accent1>
      <a:accent2>
        <a:srgbClr val="9F761A"/>
      </a:accent2>
      <a:accent3>
        <a:srgbClr val="92A200"/>
      </a:accent3>
      <a:accent4>
        <a:srgbClr val="4AA157"/>
      </a:accent4>
      <a:accent5>
        <a:srgbClr val="46788D"/>
      </a:accent5>
      <a:accent6>
        <a:srgbClr val="A848A8"/>
      </a:accent6>
      <a:hlink>
        <a:srgbClr val="460402"/>
      </a:hlink>
      <a:folHlink>
        <a:srgbClr val="991111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3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2700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162000"/>
                <a:satMod val="200000"/>
                <a:lumMod val="124000"/>
              </a:schemeClr>
            </a:gs>
            <a:gs pos="100000">
              <a:schemeClr val="phClr">
                <a:shade val="96000"/>
                <a:hueMod val="88000"/>
                <a:satMod val="220000"/>
                <a:lumMod val="82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162000"/>
                <a:satMod val="200000"/>
                <a:lumMod val="124000"/>
              </a:schemeClr>
            </a:gs>
            <a:gs pos="100000">
              <a:schemeClr val="phClr">
                <a:shade val="96000"/>
                <a:hueMod val="88000"/>
                <a:satMod val="220000"/>
                <a:lumMod val="82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282EB108-EDE6-4B8E-957B-D4A69BF580E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27</TotalTime>
  <Words>198</Words>
  <Application>Microsoft Office PowerPoint</Application>
  <PresentationFormat>On-screen Show (4:3)</PresentationFormat>
  <Paragraphs>68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Century Gothic</vt:lpstr>
      <vt:lpstr>Wingdings 3</vt:lpstr>
      <vt:lpstr>Slice</vt:lpstr>
      <vt:lpstr>CYBERSECURITY ETHICAL HACKING</vt:lpstr>
      <vt:lpstr>Table of Contents</vt:lpstr>
      <vt:lpstr>Executive Summary</vt:lpstr>
      <vt:lpstr>Methodology</vt:lpstr>
      <vt:lpstr>Scope of Work</vt:lpstr>
      <vt:lpstr>Tools Used (OSINT &amp; Scanning)</vt:lpstr>
      <vt:lpstr>Tools Used (Web &amp; Network)</vt:lpstr>
      <vt:lpstr>Risk &amp; Impact Overview</vt:lpstr>
      <vt:lpstr>Recommendations</vt:lpstr>
      <vt:lpstr>WHOIS Information Summary</vt:lpstr>
      <vt:lpstr>DNS &amp; nslookup Findings</vt:lpstr>
      <vt:lpstr>dig Command Findings</vt:lpstr>
      <vt:lpstr>Subdomain Enumeration</vt:lpstr>
      <vt:lpstr>WAF Detection</vt:lpstr>
      <vt:lpstr>WhatWeb Results</vt:lpstr>
      <vt:lpstr>Nmap Findings</vt:lpstr>
      <vt:lpstr>DNS Enumeration (dnsenum)</vt:lpstr>
      <vt:lpstr>Nikto Scan Summary</vt:lpstr>
      <vt:lpstr>SSLScan Findings</vt:lpstr>
      <vt:lpstr>DIRB Scan Summary</vt:lpstr>
      <vt:lpstr>Conclusion</vt:lpstr>
    </vt:vector>
  </TitlesOfParts>
  <Manager/>
  <Company/>
  <LinksUpToDate>false</LinksUpToDate>
  <SharedDoc>false</SharedDoc>
  <HyperlinkBase/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CYBERSECURITY ETHICAL HACKING</dc:title>
  <dc:subject/>
  <dc:creator/>
  <cp:keywords/>
  <dc:description>generated using python-pptx</dc:description>
  <cp:lastModifiedBy>Microsoft account</cp:lastModifiedBy>
  <cp:revision>5</cp:revision>
  <dcterms:created xsi:type="dcterms:W3CDTF">2013-01-27T09:14:16Z</dcterms:created>
  <dcterms:modified xsi:type="dcterms:W3CDTF">2025-11-04T15:05:32Z</dcterms:modified>
  <cp:category/>
</cp:coreProperties>
</file>